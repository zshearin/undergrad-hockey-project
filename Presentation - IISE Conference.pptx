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73" r:id="rId9"/>
    <p:sldId id="264" r:id="rId10"/>
    <p:sldId id="266" r:id="rId11"/>
    <p:sldId id="267" r:id="rId12"/>
    <p:sldId id="265" r:id="rId13"/>
    <p:sldId id="272" r:id="rId14"/>
    <p:sldId id="268" r:id="rId15"/>
    <p:sldId id="269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82512" autoAdjust="0"/>
  </p:normalViewPr>
  <p:slideViewPr>
    <p:cSldViewPr snapToGrid="0">
      <p:cViewPr varScale="1">
        <p:scale>
          <a:sx n="75" d="100"/>
          <a:sy n="75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shearin\Documents\Hockey_Project\Sloan%20Paper%20Materials\Optimization%20Model\Current%20Data%20-%20OR%20Point%20System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pPr>
            <a:r>
              <a:rPr lang="en-US" dirty="0"/>
              <a:t>Discrepancies With Win-Loss Record by </a:t>
            </a:r>
            <a:r>
              <a:rPr lang="en-US" dirty="0" smtClean="0"/>
              <a:t>Type (Past 10 Seasons)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Sheet1!$Q$8</c:f>
              <c:strCache>
                <c:ptCount val="1"/>
                <c:pt idx="0">
                  <c:v>Red</c:v>
                </c:pt>
              </c:strCache>
            </c:strRef>
          </c:tx>
          <c:spPr>
            <a:solidFill>
              <a:srgbClr val="FF0000"/>
            </a:solidFill>
            <a:ln>
              <a:solidFill>
                <a:schemeClr val="accen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Sheet1!$R$7:$V$7</c:f>
              <c:strCache>
                <c:ptCount val="5"/>
                <c:pt idx="0">
                  <c:v>Actual</c:v>
                </c:pt>
                <c:pt idx="1">
                  <c:v>3-2-1-0</c:v>
                </c:pt>
                <c:pt idx="2">
                  <c:v>00-04</c:v>
                </c:pt>
                <c:pt idx="3">
                  <c:v>84-99</c:v>
                </c:pt>
                <c:pt idx="4">
                  <c:v>Pre-83</c:v>
                </c:pt>
              </c:strCache>
            </c:strRef>
          </c:cat>
          <c:val>
            <c:numRef>
              <c:f>Sheet1!$R$8:$V$8</c:f>
              <c:numCache>
                <c:formatCode>General</c:formatCode>
                <c:ptCount val="5"/>
                <c:pt idx="0">
                  <c:v>7</c:v>
                </c:pt>
                <c:pt idx="1">
                  <c:v>8</c:v>
                </c:pt>
                <c:pt idx="2">
                  <c:v>8</c:v>
                </c:pt>
                <c:pt idx="3">
                  <c:v>9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F0-429E-85EA-E5F08AC79D15}"/>
            </c:ext>
          </c:extLst>
        </c:ser>
        <c:ser>
          <c:idx val="1"/>
          <c:order val="1"/>
          <c:tx>
            <c:strRef>
              <c:f>Sheet1!$Q$9</c:f>
              <c:strCache>
                <c:ptCount val="1"/>
                <c:pt idx="0">
                  <c:v>Orange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Sheet1!$R$7:$V$7</c:f>
              <c:strCache>
                <c:ptCount val="5"/>
                <c:pt idx="0">
                  <c:v>Actual</c:v>
                </c:pt>
                <c:pt idx="1">
                  <c:v>3-2-1-0</c:v>
                </c:pt>
                <c:pt idx="2">
                  <c:v>00-04</c:v>
                </c:pt>
                <c:pt idx="3">
                  <c:v>84-99</c:v>
                </c:pt>
                <c:pt idx="4">
                  <c:v>Pre-83</c:v>
                </c:pt>
              </c:strCache>
            </c:strRef>
          </c:cat>
          <c:val>
            <c:numRef>
              <c:f>Sheet1!$R$9:$V$9</c:f>
              <c:numCache>
                <c:formatCode>General</c:formatCode>
                <c:ptCount val="5"/>
                <c:pt idx="0">
                  <c:v>23</c:v>
                </c:pt>
                <c:pt idx="1">
                  <c:v>20</c:v>
                </c:pt>
                <c:pt idx="2">
                  <c:v>26</c:v>
                </c:pt>
                <c:pt idx="3">
                  <c:v>25</c:v>
                </c:pt>
                <c:pt idx="4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F0-429E-85EA-E5F08AC79D15}"/>
            </c:ext>
          </c:extLst>
        </c:ser>
        <c:ser>
          <c:idx val="2"/>
          <c:order val="2"/>
          <c:tx>
            <c:strRef>
              <c:f>Sheet1!$Q$10</c:f>
              <c:strCache>
                <c:ptCount val="1"/>
                <c:pt idx="0">
                  <c:v>Yellow</c:v>
                </c:pt>
              </c:strCache>
            </c:strRef>
          </c:tx>
          <c:spPr>
            <a:solidFill>
              <a:srgbClr val="F3F670"/>
            </a:solidFill>
            <a:ln>
              <a:solidFill>
                <a:schemeClr val="accen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Sheet1!$R$7:$V$7</c:f>
              <c:strCache>
                <c:ptCount val="5"/>
                <c:pt idx="0">
                  <c:v>Actual</c:v>
                </c:pt>
                <c:pt idx="1">
                  <c:v>3-2-1-0</c:v>
                </c:pt>
                <c:pt idx="2">
                  <c:v>00-04</c:v>
                </c:pt>
                <c:pt idx="3">
                  <c:v>84-99</c:v>
                </c:pt>
                <c:pt idx="4">
                  <c:v>Pre-83</c:v>
                </c:pt>
              </c:strCache>
            </c:strRef>
          </c:cat>
          <c:val>
            <c:numRef>
              <c:f>Sheet1!$R$10:$V$10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16</c:v>
                </c:pt>
                <c:pt idx="3">
                  <c:v>15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F0-429E-85EA-E5F08AC79D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4042280"/>
        <c:axId val="134041888"/>
      </c:barChart>
      <c:catAx>
        <c:axId val="1340422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pPr>
                <a:r>
                  <a:rPr lang="en-US"/>
                  <a:t>Point</a:t>
                </a:r>
                <a:r>
                  <a:rPr lang="en-US" baseline="0"/>
                  <a:t> System Name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" panose="02040503050406030204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pPr>
            <a:endParaRPr lang="en-US"/>
          </a:p>
        </c:txPr>
        <c:crossAx val="134041888"/>
        <c:crosses val="autoZero"/>
        <c:auto val="1"/>
        <c:lblAlgn val="ctr"/>
        <c:lblOffset val="100"/>
        <c:noMultiLvlLbl val="0"/>
      </c:catAx>
      <c:valAx>
        <c:axId val="134041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en-US" baseline="0"/>
                  <a:t> of Discrepancies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" panose="02040503050406030204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pPr>
            <a:endParaRPr lang="en-US"/>
          </a:p>
        </c:txPr>
        <c:crossAx val="134042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Cambria" panose="020405030504060302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E0EDD-B30D-439A-9840-41D94A4D2F32}" type="datetimeFigureOut">
              <a:rPr lang="en-US" smtClean="0"/>
              <a:t>3/24/2017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B8AAD-354C-4D61-96BE-F2C50E4B4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22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0B8AAD-354C-4D61-96BE-F2C50E4B45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12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Tell them</a:t>
            </a:r>
            <a:r>
              <a:rPr lang="en-US" baseline="0" dirty="0" smtClean="0"/>
              <a:t> why point system matters – determines who makes playoffs</a:t>
            </a:r>
          </a:p>
          <a:p>
            <a:endParaRPr lang="en-US" dirty="0" smtClean="0"/>
          </a:p>
          <a:p>
            <a:r>
              <a:rPr lang="en-US" dirty="0" smtClean="0"/>
              <a:t>Current system: 2 points for a win, 1 point for an overtime loss</a:t>
            </a:r>
          </a:p>
          <a:p>
            <a:pPr lvl="1"/>
            <a:r>
              <a:rPr lang="en-US" dirty="0" smtClean="0"/>
              <a:t>2 overtime losses = 1 win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Point systems are used to determine who makes the playoffs.  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Point system intention – make hockey game entertaining and fair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0B8AAD-354C-4D61-96BE-F2C50E4B45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37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Say what “Points Awarded Change?” means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0B8AAD-354C-4D61-96BE-F2C50E4B45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47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0B8AAD-354C-4D61-96BE-F2C50E4B454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16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Relate</a:t>
            </a:r>
            <a:r>
              <a:rPr lang="en-US" baseline="0" dirty="0" smtClean="0"/>
              <a:t> example table to graph 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Maybe take out green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0B8AAD-354C-4D61-96BE-F2C50E4B45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62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0B8AAD-354C-4D61-96BE-F2C50E4B45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95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0B8AAD-354C-4D61-96BE-F2C50E4B454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Spend more time here  (walk</a:t>
            </a:r>
            <a:r>
              <a:rPr lang="en-US" baseline="0" dirty="0" smtClean="0"/>
              <a:t> through what exactly I did)</a:t>
            </a:r>
            <a:endParaRPr lang="en-US" dirty="0" smtClean="0"/>
          </a:p>
          <a:p>
            <a:endParaRPr lang="en-US" dirty="0" smtClean="0"/>
          </a:p>
          <a:p>
            <a:pPr marL="171450" indent="-171450">
              <a:buFontTx/>
              <a:buChar char="-"/>
            </a:pPr>
            <a:r>
              <a:rPr lang="en-US" dirty="0" smtClean="0"/>
              <a:t>Only data taken when game was tied </a:t>
            </a:r>
          </a:p>
          <a:p>
            <a:pPr marL="171450" indent="-171450">
              <a:buFontTx/>
              <a:buChar char="-"/>
            </a:pPr>
            <a:r>
              <a:rPr lang="en-US" dirty="0" smtClean="0"/>
              <a:t>Calculated per minute</a:t>
            </a:r>
            <a:r>
              <a:rPr lang="en-US" baseline="0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0B8AAD-354C-4D61-96BE-F2C50E4B454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08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Add animations with</a:t>
            </a:r>
            <a:r>
              <a:rPr lang="en-US" baseline="0" dirty="0" smtClean="0"/>
              <a:t> words – </a:t>
            </a:r>
            <a:r>
              <a:rPr lang="en-US" baseline="0" dirty="0" err="1" smtClean="0"/>
              <a:t>eg</a:t>
            </a:r>
            <a:r>
              <a:rPr lang="en-US" baseline="0" dirty="0" smtClean="0"/>
              <a:t>: “more shots in first 55 than in last 5” 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More shots in First 55 than last 5 (statistically significant for all except 2015-2016 season)</a:t>
            </a:r>
          </a:p>
          <a:p>
            <a:endParaRPr lang="en-US" dirty="0" smtClean="0"/>
          </a:p>
          <a:p>
            <a:r>
              <a:rPr lang="en-US" dirty="0" smtClean="0"/>
              <a:t>More face-offs in Last 5 than first 55 (statistically significant for all years)</a:t>
            </a:r>
          </a:p>
          <a:p>
            <a:endParaRPr lang="en-US" dirty="0" smtClean="0"/>
          </a:p>
          <a:p>
            <a:r>
              <a:rPr lang="en-US" dirty="0" smtClean="0"/>
              <a:t>Many more penalties and hits in first 55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0B8AAD-354C-4D61-96BE-F2C50E4B454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76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AB13A-DA04-4B8C-9F04-005F39ACF208}" type="datetime1">
              <a:rPr lang="en-US" smtClean="0"/>
              <a:t>3/24/2017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33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B10FE-9DAE-4E57-8DBB-2F5982D15E2E}" type="datetime1">
              <a:rPr lang="en-US" smtClean="0"/>
              <a:t>3/24/2017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85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876C7-C3E0-4B03-A803-4F7A65030C37}" type="datetime1">
              <a:rPr lang="en-US" smtClean="0"/>
              <a:t>3/24/2017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83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4EE6-7845-4E15-A075-52E1CBFE540A}" type="datetime1">
              <a:rPr lang="en-US" smtClean="0"/>
              <a:t>3/24/2017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03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FE66-D0A7-4F29-B10C-4D83CE9FABD6}" type="datetime1">
              <a:rPr lang="en-US" smtClean="0"/>
              <a:t>3/24/2017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02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4FE9-8C0E-46B1-8F85-1B3DCFDE3D7A}" type="datetime1">
              <a:rPr lang="en-US" smtClean="0"/>
              <a:t>3/24/2017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84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255C-29A3-42E7-966D-0387CF3BA908}" type="datetime1">
              <a:rPr lang="en-US" smtClean="0"/>
              <a:t>3/24/2017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5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24A7E-00D5-4B3B-A4CE-13CBC38BE335}" type="datetime1">
              <a:rPr lang="en-US" smtClean="0"/>
              <a:t>3/24/2017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6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A227-0038-41AC-A4C1-98331706BDC7}" type="datetime1">
              <a:rPr lang="en-US" smtClean="0"/>
              <a:t>3/24/2017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00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93C1-EC5C-4601-A5E9-5479FB4B95D2}" type="datetime1">
              <a:rPr lang="en-US" smtClean="0"/>
              <a:t>3/24/2017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1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5DAD-7572-4708-8C5B-D80E24AC083E}" type="datetime1">
              <a:rPr lang="en-US" smtClean="0"/>
              <a:t>3/24/2017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25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30C38-3880-46C2-ADF3-140768139856}" type="datetime1">
              <a:rPr lang="en-US" smtClean="0"/>
              <a:t>3/24/2017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3799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85549-ADA8-4220-AD8A-E56C47BC9D89}" type="datetime1">
              <a:rPr lang="en-US" smtClean="0"/>
              <a:t>3/24/2017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73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7643-21C0-4747-8EED-7E22188B954A}" type="datetime1">
              <a:rPr lang="en-US" smtClean="0"/>
              <a:t>3/24/2017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64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C8900-3A36-4FBC-AC67-214E4139EDCD}" type="datetime1">
              <a:rPr lang="en-US" smtClean="0"/>
              <a:t>3/24/2017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53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8EB3C-F9D3-47B3-BB1E-5DD9CA71F519}" type="datetime1">
              <a:rPr lang="en-US" smtClean="0"/>
              <a:t>3/24/2017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00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A74FD-406A-4836-8088-6A45D606F92E}" type="datetime1">
              <a:rPr lang="en-US" smtClean="0"/>
              <a:t>3/24/2017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40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CC5EC06-A686-4000-BF11-0869660075F6}" type="datetime1">
              <a:rPr lang="en-US" smtClean="0"/>
              <a:t>3/24/2017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31D1C32-6CB4-4A21-950A-543647B2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92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The NHL Playoff Picture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Zach Shearin</a:t>
            </a:r>
          </a:p>
          <a:p>
            <a:r>
              <a:rPr lang="en-US" dirty="0" smtClean="0"/>
              <a:t>Rensselaer Polytechnic Institute Industrial and Management Engineering Undergraduate</a:t>
            </a:r>
            <a:endParaRPr lang="en-US" dirty="0"/>
          </a:p>
        </p:txBody>
      </p:sp>
      <p:pic>
        <p:nvPicPr>
          <p:cNvPr id="1026" name="Picture 2" descr="Image result for RP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960" y="5058930"/>
            <a:ext cx="66675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0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Agenda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732449"/>
            <a:ext cx="5408628" cy="4058751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Background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Objective/Motivation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NHL Point Systems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Optimization Model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Data Collection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Statistical Analysis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Suggestions for Change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2050" name="Picture 2" descr="Image result for NH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057" y="1380574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7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NHL Current Point System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876" y="5593897"/>
            <a:ext cx="10515600" cy="759279"/>
          </a:xfrm>
        </p:spPr>
        <p:txBody>
          <a:bodyPr>
            <a:noAutofit/>
          </a:bodyPr>
          <a:lstStyle/>
          <a:p>
            <a:r>
              <a:rPr lang="en-US" sz="1800" dirty="0" smtClean="0">
                <a:solidFill>
                  <a:schemeClr val="tx1"/>
                </a:solidFill>
              </a:rPr>
              <a:t>More total points are awarded when a game ends in a tie.  </a:t>
            </a:r>
          </a:p>
          <a:p>
            <a:r>
              <a:rPr lang="en-US" sz="1800" dirty="0" smtClean="0">
                <a:solidFill>
                  <a:schemeClr val="tx1"/>
                </a:solidFill>
              </a:rPr>
              <a:t>Near the end of a tied game, teams may play more passively to ensure the extra point.</a:t>
            </a:r>
          </a:p>
          <a:p>
            <a:pPr marL="0" indent="0">
              <a:buNone/>
            </a:pPr>
            <a:endParaRPr lang="en-US" sz="1800" dirty="0" smtClean="0"/>
          </a:p>
          <a:p>
            <a:pPr lvl="1"/>
            <a:endParaRPr lang="en-US" dirty="0"/>
          </a:p>
          <a:p>
            <a:endParaRPr lang="en-US"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166873"/>
              </p:ext>
            </p:extLst>
          </p:nvPr>
        </p:nvGraphicFramePr>
        <p:xfrm>
          <a:off x="249381" y="1807501"/>
          <a:ext cx="5343897" cy="3423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1299">
                  <a:extLst>
                    <a:ext uri="{9D8B030D-6E8A-4147-A177-3AD203B41FA5}">
                      <a16:colId xmlns:a16="http://schemas.microsoft.com/office/drawing/2014/main" val="3453573669"/>
                    </a:ext>
                  </a:extLst>
                </a:gridCol>
                <a:gridCol w="1781299">
                  <a:extLst>
                    <a:ext uri="{9D8B030D-6E8A-4147-A177-3AD203B41FA5}">
                      <a16:colId xmlns:a16="http://schemas.microsoft.com/office/drawing/2014/main" val="617235092"/>
                    </a:ext>
                  </a:extLst>
                </a:gridCol>
                <a:gridCol w="1781299">
                  <a:extLst>
                    <a:ext uri="{9D8B030D-6E8A-4147-A177-3AD203B41FA5}">
                      <a16:colId xmlns:a16="http://schemas.microsoft.com/office/drawing/2014/main" val="1260894483"/>
                    </a:ext>
                  </a:extLst>
                </a:gridCol>
              </a:tblGrid>
              <a:tr h="766974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Regular</a:t>
                      </a:r>
                      <a:r>
                        <a:rPr lang="en-US" sz="2400" baseline="0" dirty="0" smtClean="0"/>
                        <a:t> Time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Overtime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653026"/>
                  </a:ext>
                </a:extLst>
              </a:tr>
              <a:tr h="55280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Points</a:t>
                      </a:r>
                      <a:r>
                        <a:rPr lang="en-US" sz="2400" baseline="0" dirty="0" smtClean="0"/>
                        <a:t> for Win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96874"/>
                  </a:ext>
                </a:extLst>
              </a:tr>
              <a:tr h="55280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Points for Loss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118811"/>
                  </a:ext>
                </a:extLst>
              </a:tr>
              <a:tr h="9541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Total Points Awarded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62387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3</a:t>
            </a:fld>
            <a:endParaRPr lang="en-US"/>
          </a:p>
        </p:txBody>
      </p:sp>
      <p:pic>
        <p:nvPicPr>
          <p:cNvPr id="1028" name="Picture 4" descr="https://i.ytimg.com/vi/MPwPNy381Pg/hqdefaul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966" y="1433992"/>
            <a:ext cx="6084234" cy="4159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32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Research Objectives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0748" y="1673072"/>
            <a:ext cx="6980564" cy="4727728"/>
          </a:xfrm>
        </p:spPr>
        <p:txBody>
          <a:bodyPr>
            <a:normAutofit/>
          </a:bodyPr>
          <a:lstStyle/>
          <a:p>
            <a:pPr marL="494100" indent="-4572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Fairness – Is the Current Point System Fair?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Optimization Model to Determine Which Teams Make the Playoffs for Different Point </a:t>
            </a:r>
            <a:r>
              <a:rPr lang="en-US" dirty="0">
                <a:solidFill>
                  <a:schemeClr val="tx1"/>
                </a:solidFill>
              </a:rPr>
              <a:t>S</a:t>
            </a:r>
            <a:r>
              <a:rPr lang="en-US" dirty="0" smtClean="0">
                <a:solidFill>
                  <a:schemeClr val="tx1"/>
                </a:solidFill>
              </a:rPr>
              <a:t>ystems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Use </a:t>
            </a:r>
            <a:r>
              <a:rPr lang="en-US" dirty="0">
                <a:solidFill>
                  <a:schemeClr val="tx1"/>
                </a:solidFill>
              </a:rPr>
              <a:t>o</a:t>
            </a:r>
            <a:r>
              <a:rPr lang="en-US" dirty="0" smtClean="0">
                <a:solidFill>
                  <a:schemeClr val="tx1"/>
                </a:solidFill>
              </a:rPr>
              <a:t>ptimization model to assess potential flaws in the current point system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 smtClean="0">
              <a:solidFill>
                <a:schemeClr val="tx1"/>
              </a:solidFill>
            </a:endParaRPr>
          </a:p>
          <a:p>
            <a:pPr marL="494100" indent="-4572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Entertainment – Does the current point system influence style of play?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Statistical analysis of gameplay 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Comparison of game statistics in the first 55 minutes and last 5 minutes when it’s a tied game</a:t>
            </a:r>
          </a:p>
          <a:p>
            <a:pPr marL="450000" lvl="1" indent="0">
              <a:buNone/>
            </a:pPr>
            <a:endParaRPr lang="en-US" dirty="0"/>
          </a:p>
        </p:txBody>
      </p:sp>
      <p:pic>
        <p:nvPicPr>
          <p:cNvPr id="4098" name="Picture 2" descr="Image result for referees in hocke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11" y="1473173"/>
            <a:ext cx="36576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nhl fa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11" y="4036936"/>
            <a:ext cx="3657600" cy="205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7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690" y="2414642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Assessing Fairness: Point Systems and Optimization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0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Point Systems Assessed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055146"/>
              </p:ext>
            </p:extLst>
          </p:nvPr>
        </p:nvGraphicFramePr>
        <p:xfrm>
          <a:off x="1111469" y="1942842"/>
          <a:ext cx="9153785" cy="31389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1771">
                  <a:extLst>
                    <a:ext uri="{9D8B030D-6E8A-4147-A177-3AD203B41FA5}">
                      <a16:colId xmlns:a16="http://schemas.microsoft.com/office/drawing/2014/main" val="5643884"/>
                    </a:ext>
                  </a:extLst>
                </a:gridCol>
                <a:gridCol w="1216920">
                  <a:extLst>
                    <a:ext uri="{9D8B030D-6E8A-4147-A177-3AD203B41FA5}">
                      <a16:colId xmlns:a16="http://schemas.microsoft.com/office/drawing/2014/main" val="1575546691"/>
                    </a:ext>
                  </a:extLst>
                </a:gridCol>
                <a:gridCol w="1243544">
                  <a:extLst>
                    <a:ext uri="{9D8B030D-6E8A-4147-A177-3AD203B41FA5}">
                      <a16:colId xmlns:a16="http://schemas.microsoft.com/office/drawing/2014/main" val="3401001247"/>
                    </a:ext>
                  </a:extLst>
                </a:gridCol>
                <a:gridCol w="1045381">
                  <a:extLst>
                    <a:ext uri="{9D8B030D-6E8A-4147-A177-3AD203B41FA5}">
                      <a16:colId xmlns:a16="http://schemas.microsoft.com/office/drawing/2014/main" val="85140851"/>
                    </a:ext>
                  </a:extLst>
                </a:gridCol>
                <a:gridCol w="1221526">
                  <a:extLst>
                    <a:ext uri="{9D8B030D-6E8A-4147-A177-3AD203B41FA5}">
                      <a16:colId xmlns:a16="http://schemas.microsoft.com/office/drawing/2014/main" val="1417269259"/>
                    </a:ext>
                  </a:extLst>
                </a:gridCol>
                <a:gridCol w="1221526">
                  <a:extLst>
                    <a:ext uri="{9D8B030D-6E8A-4147-A177-3AD203B41FA5}">
                      <a16:colId xmlns:a16="http://schemas.microsoft.com/office/drawing/2014/main" val="1158518710"/>
                    </a:ext>
                  </a:extLst>
                </a:gridCol>
                <a:gridCol w="1253117">
                  <a:extLst>
                    <a:ext uri="{9D8B030D-6E8A-4147-A177-3AD203B41FA5}">
                      <a16:colId xmlns:a16="http://schemas.microsoft.com/office/drawing/2014/main" val="2942019712"/>
                    </a:ext>
                  </a:extLst>
                </a:gridCol>
              </a:tblGrid>
              <a:tr h="37994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Point System Name: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Current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Win-Loss Record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mtClean="0">
                          <a:effectLst/>
                        </a:rPr>
                        <a:t>3-2-1-0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2000-2004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mtClean="0">
                          <a:effectLst/>
                        </a:rPr>
                        <a:t>1984-1999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Pre-1983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3120158"/>
                  </a:ext>
                </a:extLst>
              </a:tr>
              <a:tr h="34999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Situation: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Point Values: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118757"/>
                  </a:ext>
                </a:extLst>
              </a:tr>
              <a:tr h="29166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Regular-time Win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3747611"/>
                  </a:ext>
                </a:extLst>
              </a:tr>
              <a:tr h="29166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Regular-time Loss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5849387"/>
                  </a:ext>
                </a:extLst>
              </a:tr>
              <a:tr h="29166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Tie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NA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NA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NA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1062672"/>
                  </a:ext>
                </a:extLst>
              </a:tr>
              <a:tr h="29166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Overtime Win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NA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6378409"/>
                  </a:ext>
                </a:extLst>
              </a:tr>
              <a:tr h="29166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Overtime Loss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NA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721245"/>
                  </a:ext>
                </a:extLst>
              </a:tr>
              <a:tr h="58332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Points Awarded Change?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Yes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No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Yes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No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513421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074670" y="1942843"/>
            <a:ext cx="1211580" cy="3138912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286250" y="1942841"/>
            <a:ext cx="1211580" cy="3138912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497830" y="1942841"/>
            <a:ext cx="1074420" cy="3138912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572250" y="1942841"/>
            <a:ext cx="3678438" cy="3138912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68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3" grpId="0" animBg="1"/>
      <p:bldP spid="1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Optimization Model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478483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>
                    <a:solidFill>
                      <a:schemeClr val="tx1"/>
                    </a:solidFill>
                  </a:rPr>
                  <a:t>Input Parameters: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D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ata from a given season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P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oint system to use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 - points for team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 smtClean="0">
                  <a:solidFill>
                    <a:schemeClr val="tx1"/>
                  </a:solidFill>
                </a:endParaRPr>
              </a:p>
              <a:p>
                <a:pPr lvl="1"/>
                <a:endParaRPr lang="en-US" dirty="0" smtClean="0">
                  <a:solidFill>
                    <a:schemeClr val="tx1"/>
                  </a:solidFill>
                </a:endParaRPr>
              </a:p>
              <a:p>
                <a:r>
                  <a:rPr lang="en-US" dirty="0" smtClean="0">
                    <a:solidFill>
                      <a:schemeClr val="tx1"/>
                    </a:solidFill>
                  </a:rPr>
                  <a:t>Decision Variables: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 smtClean="0">
                    <a:solidFill>
                      <a:schemeClr val="tx1"/>
                    </a:solidFill>
                  </a:rPr>
                  <a:t>(1 if team i made top division playoff spot; 0 otherwise)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0" dirty="0" smtClean="0">
                    <a:solidFill>
                      <a:schemeClr val="tx1"/>
                    </a:solidFill>
                  </a:rPr>
                  <a:t> (1 if team i made wildcard playoff spot; 0 otherwise)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b="0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4784834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203" y="1580050"/>
            <a:ext cx="4346638" cy="4865639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3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Optimization Model (</a:t>
            </a:r>
            <a:r>
              <a:rPr lang="en-US" dirty="0" err="1" smtClean="0">
                <a:solidFill>
                  <a:schemeClr val="tx1"/>
                </a:solidFill>
              </a:rPr>
              <a:t>con’t</a:t>
            </a:r>
            <a:r>
              <a:rPr lang="en-US" dirty="0" smtClean="0">
                <a:solidFill>
                  <a:schemeClr val="tx1"/>
                </a:solidFill>
              </a:rPr>
              <a:t>.)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22999" y="1580050"/>
            <a:ext cx="4715108" cy="2660074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Objective Function: Maximize Total Points of teams that make the playoff, prioritizing making it top of the division over wildcard. </a:t>
            </a:r>
            <a:endParaRPr lang="en-US" b="0" dirty="0" smtClean="0">
              <a:solidFill>
                <a:schemeClr val="tx1"/>
              </a:solidFill>
            </a:endParaRPr>
          </a:p>
          <a:p>
            <a:r>
              <a:rPr lang="en-US" b="0" dirty="0" smtClean="0">
                <a:solidFill>
                  <a:schemeClr val="tx1"/>
                </a:solidFill>
              </a:rPr>
              <a:t>Constraints: Based on the structure of playoffs and divisions.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2282544"/>
                  </p:ext>
                </p:extLst>
              </p:nvPr>
            </p:nvGraphicFramePr>
            <p:xfrm>
              <a:off x="5498275" y="2019437"/>
              <a:ext cx="6578928" cy="393318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60689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995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361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 smtClean="0">
                              <a:solidFill>
                                <a:schemeClr val="tx1"/>
                              </a:solidFill>
                              <a:effectLst/>
                              <a:latin typeface="Cambria" panose="02040503050406030204" pitchFamily="18" charset="0"/>
                              <a:ea typeface="HGMinchoB"/>
                              <a:cs typeface="Times New Roman" panose="02020603050405020304" pitchFamily="18" charset="0"/>
                            </a:rPr>
                            <a:t>Maximize</a:t>
                          </a:r>
                          <a14:m>
                            <m:oMath xmlns:m="http://schemas.openxmlformats.org/officeDocument/2006/math">
                              <m:r>
                                <a:rPr lang="en-US" sz="15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HGMinchoB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15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[2∗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15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5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15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5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sz="15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15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)]+[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15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5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15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 1</m:t>
                                  </m:r>
                                </m:sub>
                                <m:sup>
                                  <m:r>
                                    <a:rPr lang="en-US" sz="15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sz="15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15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sz="15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HGMinchoB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  <a:latin typeface="Cambria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(1)</a:t>
                          </a: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361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sz="15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en-US" sz="15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500" i="1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5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b>
                                            <m:r>
                                              <a:rPr lang="en-US" sz="15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sz="15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en-US" sz="15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500" i="1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5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e>
                                          <m:sub>
                                            <m:r>
                                              <a:rPr lang="en-US" sz="15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=16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(2)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78365">
                    <a:tc>
                      <a:txBody>
                        <a:bodyPr/>
                        <a:lstStyle/>
                        <a:p>
                          <a:pPr marL="45720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150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 b="0" i="1" smtClean="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5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 b="0" i="1" smtClean="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5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sz="15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=8</m:t>
                              </m:r>
                            </m:oMath>
                          </a14:m>
                          <a:r>
                            <a:rPr lang="en-US" sz="15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 ;     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150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 b="0" i="1" smtClean="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5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 b="0" i="1" smtClean="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5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sz="15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=8</m:t>
                              </m:r>
                            </m:oMath>
                          </a14:m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(3)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287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≤1     ∀</m:t>
                                </m:r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=1, 2, …, </m:t>
                                </m:r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(4)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1534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</a:p>
                        <a:p>
                          <a:pPr marL="22860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15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 b="0" i="1" smtClean="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=3</m:t>
                                  </m:r>
                                </m:e>
                              </m:nary>
                            </m:oMath>
                          </a14:m>
                          <a:r>
                            <a:rPr lang="en-US" sz="15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 ;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15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 b="0" i="1" smtClean="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=3</m:t>
                                  </m:r>
                                </m:e>
                              </m:nary>
                            </m:oMath>
                          </a14:m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22860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15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 b="0" i="1" smtClean="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=3</m:t>
                                  </m:r>
                                </m:e>
                              </m:nary>
                            </m:oMath>
                          </a14:m>
                          <a:r>
                            <a:rPr lang="en-US" sz="15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; </a:t>
                          </a:r>
                          <a14:m>
                            <m:oMath xmlns:m="http://schemas.openxmlformats.org/officeDocument/2006/math">
                              <m:r>
                                <a:rPr lang="en-US" sz="1500" b="0" i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15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 b="0" i="1" smtClean="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5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=3</m:t>
                                  </m:r>
                                </m:e>
                              </m:nary>
                            </m:oMath>
                          </a14:m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(</a:t>
                          </a: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5)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9348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5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0,1</m:t>
                                    </m:r>
                                  </m:e>
                                </m:d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∀</m:t>
                                </m:r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=1…</m:t>
                                </m:r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5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5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0,1</m:t>
                                    </m:r>
                                  </m:e>
                                </m:d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∀</m:t>
                                </m:r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=1…</m:t>
                                </m:r>
                                <m:r>
                                  <a:rPr lang="en-US" sz="15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(6)</a:t>
                          </a: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2282544"/>
                  </p:ext>
                </p:extLst>
              </p:nvPr>
            </p:nvGraphicFramePr>
            <p:xfrm>
              <a:off x="5498275" y="2019437"/>
              <a:ext cx="6578928" cy="393318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60689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995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36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73864" r="-8425" b="-634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(1)</a:t>
                          </a: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526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9286" r="-8425" b="-29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(2)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783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70886" r="-8425" b="-429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(3)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96000" r="-8425" b="-3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(4)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15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67665" r="-8425" b="-580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(</a:t>
                          </a: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5)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9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632990" r="-84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(6)</a:t>
                          </a:r>
                          <a:r>
                            <a:rPr lang="en-US" sz="15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3908" marR="53908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942" y="3843371"/>
            <a:ext cx="2606166" cy="273440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54978" y="1863356"/>
            <a:ext cx="1285822" cy="511544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115478" y="1863356"/>
            <a:ext cx="1285822" cy="511544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492444" y="2530980"/>
            <a:ext cx="2083355" cy="707519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820975" y="3389289"/>
            <a:ext cx="2929325" cy="360753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558943" y="3843371"/>
            <a:ext cx="1298558" cy="2734406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810468" y="3291208"/>
            <a:ext cx="2457088" cy="552163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888169" y="3897697"/>
            <a:ext cx="2929325" cy="360753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109687" y="4508508"/>
            <a:ext cx="1526313" cy="360753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58941" y="3929008"/>
            <a:ext cx="650859" cy="2641964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492444" y="5308648"/>
            <a:ext cx="2083355" cy="696680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72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22222E-6 L 0.10638 -2.22222E-6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2" grpId="2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Results of Optimization Model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4137292107"/>
              </p:ext>
            </p:extLst>
          </p:nvPr>
        </p:nvGraphicFramePr>
        <p:xfrm>
          <a:off x="6440981" y="1666622"/>
          <a:ext cx="5434344" cy="3787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64" y="1714438"/>
            <a:ext cx="5982535" cy="37629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8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62" y="2502535"/>
            <a:ext cx="1115093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Assessing Entertainment: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Does the Current Point System Statistically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Modify Style of Play?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93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Statistical Analysis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What changes style of play?</a:t>
            </a:r>
          </a:p>
          <a:p>
            <a:pPr marL="0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Assumptions </a:t>
            </a:r>
            <a:r>
              <a:rPr lang="en-US" dirty="0" smtClean="0">
                <a:solidFill>
                  <a:schemeClr val="tx1"/>
                </a:solidFill>
              </a:rPr>
              <a:t>about statistics and their correlation to passive play: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Shots – </a:t>
            </a:r>
            <a:r>
              <a:rPr lang="en-US" dirty="0" smtClean="0">
                <a:solidFill>
                  <a:schemeClr val="tx1"/>
                </a:solidFill>
              </a:rPr>
              <a:t>aggressive play </a:t>
            </a:r>
          </a:p>
          <a:p>
            <a:pPr lvl="1"/>
            <a:r>
              <a:rPr lang="en-US" dirty="0" err="1" smtClean="0">
                <a:solidFill>
                  <a:schemeClr val="tx1"/>
                </a:solidFill>
              </a:rPr>
              <a:t>Faceoffs</a:t>
            </a:r>
            <a:r>
              <a:rPr lang="en-US" dirty="0" smtClean="0">
                <a:solidFill>
                  <a:schemeClr val="tx1"/>
                </a:solidFill>
              </a:rPr>
              <a:t> – passive play – occur due to goals, icing, off-sides, shots (where goalie holds puck) and penalties 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Hits, Blocks, and Penalties – aggressive play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14172" y="5620433"/>
            <a:ext cx="109530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Hypothesis:  the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point system impacts play of game because if the game is tied and it is close to the end of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regulation, teams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adopt a new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less aggressive strategy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the way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they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play.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7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Data Collection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94738" cy="1077595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R-package “</a:t>
            </a:r>
            <a:r>
              <a:rPr lang="en-US" dirty="0" err="1" smtClean="0">
                <a:solidFill>
                  <a:schemeClr val="tx1"/>
                </a:solidFill>
              </a:rPr>
              <a:t>nhlscrapr</a:t>
            </a:r>
            <a:r>
              <a:rPr lang="en-US" dirty="0" smtClean="0">
                <a:solidFill>
                  <a:schemeClr val="tx1"/>
                </a:solidFill>
              </a:rPr>
              <a:t>” – play by play data from games since 2003-2004 season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55" r="-116" b="37318"/>
          <a:stretch/>
        </p:blipFill>
        <p:spPr>
          <a:xfrm>
            <a:off x="591314" y="2903220"/>
            <a:ext cx="5627039" cy="29171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870" y="3676904"/>
            <a:ext cx="4534533" cy="2143424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403768" y="1825625"/>
            <a:ext cx="5194738" cy="188245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Parsed and summarized by game when even play to calculate per minute statistic for: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First 55 minutes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Last 5 minutes</a:t>
            </a:r>
          </a:p>
          <a:p>
            <a:pPr marL="0" indent="0">
              <a:buFont typeface="Wingdings 2" charset="2"/>
              <a:buNone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9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Hypothesis Tests: </a:t>
            </a:r>
            <a:r>
              <a:rPr lang="en-US" dirty="0">
                <a:solidFill>
                  <a:schemeClr val="tx1"/>
                </a:solidFill>
                <a:effectLst/>
              </a:rPr>
              <a:t>Paired </a:t>
            </a:r>
            <a:r>
              <a:rPr lang="en-US" dirty="0" smtClean="0">
                <a:solidFill>
                  <a:schemeClr val="tx1"/>
                </a:solidFill>
                <a:effectLst/>
              </a:rPr>
              <a:t>z-tests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55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  vs.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55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- mean value per minute of statistic assessed in first 55 minutes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- mean value per minute of statistic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assessed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55</m:t>
                                          </m:r>
                                        </m:sub>
                                        <m:sup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55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+(</m:t>
                              </m: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Positive Z value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–game statistic larger in </a:t>
                </a:r>
                <a:r>
                  <a:rPr lang="en-US" sz="2400" dirty="0">
                    <a:solidFill>
                      <a:schemeClr val="tx1"/>
                    </a:solidFill>
                  </a:rPr>
                  <a:t>first 55 than in last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5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Statistical Results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6346285"/>
              </p:ext>
            </p:extLst>
          </p:nvPr>
        </p:nvGraphicFramePr>
        <p:xfrm>
          <a:off x="1295136" y="1934528"/>
          <a:ext cx="9601727" cy="31796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0823">
                  <a:extLst>
                    <a:ext uri="{9D8B030D-6E8A-4147-A177-3AD203B41FA5}">
                      <a16:colId xmlns:a16="http://schemas.microsoft.com/office/drawing/2014/main" val="2143815890"/>
                    </a:ext>
                  </a:extLst>
                </a:gridCol>
                <a:gridCol w="571924">
                  <a:extLst>
                    <a:ext uri="{9D8B030D-6E8A-4147-A177-3AD203B41FA5}">
                      <a16:colId xmlns:a16="http://schemas.microsoft.com/office/drawing/2014/main" val="1619998691"/>
                    </a:ext>
                  </a:extLst>
                </a:gridCol>
                <a:gridCol w="560925">
                  <a:extLst>
                    <a:ext uri="{9D8B030D-6E8A-4147-A177-3AD203B41FA5}">
                      <a16:colId xmlns:a16="http://schemas.microsoft.com/office/drawing/2014/main" val="545494242"/>
                    </a:ext>
                  </a:extLst>
                </a:gridCol>
                <a:gridCol w="1061360">
                  <a:extLst>
                    <a:ext uri="{9D8B030D-6E8A-4147-A177-3AD203B41FA5}">
                      <a16:colId xmlns:a16="http://schemas.microsoft.com/office/drawing/2014/main" val="1402892901"/>
                    </a:ext>
                  </a:extLst>
                </a:gridCol>
                <a:gridCol w="632415">
                  <a:extLst>
                    <a:ext uri="{9D8B030D-6E8A-4147-A177-3AD203B41FA5}">
                      <a16:colId xmlns:a16="http://schemas.microsoft.com/office/drawing/2014/main" val="4223776771"/>
                    </a:ext>
                  </a:extLst>
                </a:gridCol>
                <a:gridCol w="962373">
                  <a:extLst>
                    <a:ext uri="{9D8B030D-6E8A-4147-A177-3AD203B41FA5}">
                      <a16:colId xmlns:a16="http://schemas.microsoft.com/office/drawing/2014/main" val="2638819638"/>
                    </a:ext>
                  </a:extLst>
                </a:gridCol>
                <a:gridCol w="566425">
                  <a:extLst>
                    <a:ext uri="{9D8B030D-6E8A-4147-A177-3AD203B41FA5}">
                      <a16:colId xmlns:a16="http://schemas.microsoft.com/office/drawing/2014/main" val="1430594222"/>
                    </a:ext>
                  </a:extLst>
                </a:gridCol>
                <a:gridCol w="963660">
                  <a:extLst>
                    <a:ext uri="{9D8B030D-6E8A-4147-A177-3AD203B41FA5}">
                      <a16:colId xmlns:a16="http://schemas.microsoft.com/office/drawing/2014/main" val="57303540"/>
                    </a:ext>
                  </a:extLst>
                </a:gridCol>
                <a:gridCol w="609133">
                  <a:extLst>
                    <a:ext uri="{9D8B030D-6E8A-4147-A177-3AD203B41FA5}">
                      <a16:colId xmlns:a16="http://schemas.microsoft.com/office/drawing/2014/main" val="4225294732"/>
                    </a:ext>
                  </a:extLst>
                </a:gridCol>
                <a:gridCol w="901880">
                  <a:extLst>
                    <a:ext uri="{9D8B030D-6E8A-4147-A177-3AD203B41FA5}">
                      <a16:colId xmlns:a16="http://schemas.microsoft.com/office/drawing/2014/main" val="2232268685"/>
                    </a:ext>
                  </a:extLst>
                </a:gridCol>
                <a:gridCol w="648914">
                  <a:extLst>
                    <a:ext uri="{9D8B030D-6E8A-4147-A177-3AD203B41FA5}">
                      <a16:colId xmlns:a16="http://schemas.microsoft.com/office/drawing/2014/main" val="541903767"/>
                    </a:ext>
                  </a:extLst>
                </a:gridCol>
                <a:gridCol w="791895">
                  <a:extLst>
                    <a:ext uri="{9D8B030D-6E8A-4147-A177-3AD203B41FA5}">
                      <a16:colId xmlns:a16="http://schemas.microsoft.com/office/drawing/2014/main" val="1843991429"/>
                    </a:ext>
                  </a:extLst>
                </a:gridCol>
              </a:tblGrid>
              <a:tr h="34629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Shots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Face-offs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Penalties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Hits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Blocks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506026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Season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Z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 value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Z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 value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Z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 value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Z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 value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Z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 value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2072032"/>
                  </a:ext>
                </a:extLst>
              </a:tr>
              <a:tr h="6296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2003-2004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364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1.66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.049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-2.53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.0058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6.93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&lt;.0001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NA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NA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NA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NA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75687"/>
                  </a:ext>
                </a:extLst>
              </a:tr>
              <a:tr h="6296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2005-2006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364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2.62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.0043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-2.54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.0055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5.26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&lt;.0001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4.43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&lt;.0001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2.23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.013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9565308"/>
                  </a:ext>
                </a:extLst>
              </a:tr>
              <a:tr h="6296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2014-2015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357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1.53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.064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-2.91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.0018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2.18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.0148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6.34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&lt;.0001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1.19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.12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2891525"/>
                  </a:ext>
                </a:extLst>
              </a:tr>
              <a:tr h="6296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2015-2016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337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1.17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.121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-2.89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.0019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5.12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&lt;.0001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4.66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&lt;.0001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.809</a:t>
                      </a:r>
                      <a:endParaRPr lang="en-US" sz="24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.19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15995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0" y="1934528"/>
            <a:ext cx="1600200" cy="3179636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1934528"/>
            <a:ext cx="1600200" cy="3179636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400800" y="1934528"/>
            <a:ext cx="3040378" cy="3179636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441179" y="1934528"/>
            <a:ext cx="1455683" cy="3179636"/>
          </a:xfrm>
          <a:prstGeom prst="rect">
            <a:avLst/>
          </a:prstGeom>
          <a:solidFill>
            <a:schemeClr val="accent4">
              <a:alpha val="58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725762" y="5483485"/>
            <a:ext cx="55640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Shots Higher in First 55 min than in Last 5 min</a:t>
            </a:r>
          </a:p>
          <a:p>
            <a:pPr algn="ctr"/>
            <a:r>
              <a:rPr lang="en-US" dirty="0" smtClean="0"/>
              <a:t>(statistically significant in all seasons except 2015-2016)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786315" y="5468642"/>
            <a:ext cx="51346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Face-offs lower in First 55 min than in Last 5 min</a:t>
            </a:r>
          </a:p>
          <a:p>
            <a:pPr algn="ctr"/>
            <a:r>
              <a:rPr lang="en-US" dirty="0" smtClean="0"/>
              <a:t>(statistically significant in all seasons)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5858014" y="5428840"/>
            <a:ext cx="38984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Penalties and Hits significantly higher</a:t>
            </a:r>
          </a:p>
          <a:p>
            <a:pPr algn="ctr"/>
            <a:r>
              <a:rPr lang="en-US" dirty="0" smtClean="0"/>
              <a:t>in First 55 min than in Last 5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79342" y="5448741"/>
            <a:ext cx="47644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Blocks higher in First 55 min than in last 5 min</a:t>
            </a:r>
          </a:p>
          <a:p>
            <a:pPr algn="ctr"/>
            <a:r>
              <a:rPr lang="en-US" dirty="0" smtClean="0"/>
              <a:t>(not statistically significant)</a:t>
            </a:r>
          </a:p>
        </p:txBody>
      </p:sp>
    </p:spTree>
    <p:extLst>
      <p:ext uri="{BB962C8B-B14F-4D97-AF65-F5344CB8AC3E}">
        <p14:creationId xmlns:p14="http://schemas.microsoft.com/office/powerpoint/2010/main" val="260388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5" grpId="0"/>
      <p:bldP spid="5" grpId="1"/>
      <p:bldP spid="15" grpId="0"/>
      <p:bldP spid="15" grpId="1"/>
      <p:bldP spid="16" grpId="0"/>
      <p:bldP spid="16" grpId="1"/>
      <p:bldP spid="17" grpId="0"/>
      <p:bldP spid="1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Summary/Suggestions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Current system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Incorporates fairness of modifying game from regulation to overtime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Statistically more passive play found in last 5 minutes of regulation when game tied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3-2-1-0 system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Also incorporates fairness of modifying game from regulation to overtime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Provides motivation to end in regulation – standard (or more entertaining) style of play in final minutes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3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Thank you!  Questions or Comments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1C32-6CB4-4A21-950A-543647B211D6}" type="slidenum">
              <a:rPr lang="en-US" smtClean="0"/>
              <a:t>16</a:t>
            </a:fld>
            <a:endParaRPr lang="en-US"/>
          </a:p>
        </p:txBody>
      </p:sp>
      <p:pic>
        <p:nvPicPr>
          <p:cNvPr id="7170" name="Picture 2" descr="Image result for RPI hocke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974" y="1732449"/>
            <a:ext cx="4500747" cy="4546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08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641</TotalTime>
  <Words>860</Words>
  <Application>Microsoft Office PowerPoint</Application>
  <PresentationFormat>Widescreen</PresentationFormat>
  <Paragraphs>279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Calibri</vt:lpstr>
      <vt:lpstr>Calisto MT</vt:lpstr>
      <vt:lpstr>Cambria</vt:lpstr>
      <vt:lpstr>Cambria Math</vt:lpstr>
      <vt:lpstr>HGMinchoB</vt:lpstr>
      <vt:lpstr>Times New Roman</vt:lpstr>
      <vt:lpstr>Trebuchet MS</vt:lpstr>
      <vt:lpstr>Wingdings 2</vt:lpstr>
      <vt:lpstr>Slate</vt:lpstr>
      <vt:lpstr>The NHL Playoff Picture</vt:lpstr>
      <vt:lpstr>Agenda</vt:lpstr>
      <vt:lpstr>NHL Current Point System</vt:lpstr>
      <vt:lpstr>Research Objectives</vt:lpstr>
      <vt:lpstr>Assessing Fairness: Point Systems and Optimization Model</vt:lpstr>
      <vt:lpstr>Point Systems Assessed</vt:lpstr>
      <vt:lpstr>Optimization Model</vt:lpstr>
      <vt:lpstr>Optimization Model (con’t.)</vt:lpstr>
      <vt:lpstr>Results of Optimization Model</vt:lpstr>
      <vt:lpstr>Assessing Entertainment:  Does the Current Point System Statistically  Modify Style of Play?</vt:lpstr>
      <vt:lpstr>Statistical Analysis</vt:lpstr>
      <vt:lpstr>Data Collection</vt:lpstr>
      <vt:lpstr>Hypothesis Tests: Paired z-tests</vt:lpstr>
      <vt:lpstr>Statistical Results</vt:lpstr>
      <vt:lpstr>Summary/Suggestions</vt:lpstr>
      <vt:lpstr>Thank you!  Questions or Comments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NHL Playoff Picture</dc:title>
  <dc:creator>zshearin</dc:creator>
  <cp:lastModifiedBy>zshearin</cp:lastModifiedBy>
  <cp:revision>47</cp:revision>
  <dcterms:created xsi:type="dcterms:W3CDTF">2017-03-20T18:27:18Z</dcterms:created>
  <dcterms:modified xsi:type="dcterms:W3CDTF">2017-03-25T00:03:13Z</dcterms:modified>
</cp:coreProperties>
</file>